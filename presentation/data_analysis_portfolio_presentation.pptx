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AB51C-D132-4BA7-9D17-A31ADD8D0320}" v="2" dt="2026-09-02T09:39:50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9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4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3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0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9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6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4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6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2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6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2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4286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98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73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17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4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1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08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Multi-Domain Data Analysis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dirty="0"/>
              <a:t>6 End-to-End Projects • Python • Pandas • NumPy • Matplotlib</a:t>
            </a:r>
          </a:p>
          <a:p>
            <a:pPr algn="ctr">
              <a:defRPr sz="1800"/>
            </a:pPr>
            <a:r>
              <a:rPr dirty="0"/>
              <a:t>Prepared by Durga Prasad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Portfolio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Analyze real or simulated datasets across multiple business domains.</a:t>
            </a:r>
          </a:p>
          <a:p>
            <a:pPr>
              <a:spcAft>
                <a:spcPts val="1200"/>
              </a:spcAft>
              <a:defRPr sz="1800"/>
            </a:pPr>
            <a:r>
              <a:t>Apply data cleaning, transformation, descriptive statistics, correlation, trend analysis, and validation.</a:t>
            </a:r>
          </a:p>
          <a:p>
            <a:pPr>
              <a:spcAft>
                <a:spcPts val="1200"/>
              </a:spcAft>
              <a:defRPr sz="1800"/>
            </a:pPr>
            <a:r>
              <a:t>Create clear visualizations that communicate patterns and comparisons.</a:t>
            </a:r>
          </a:p>
          <a:p>
            <a:pPr>
              <a:spcAft>
                <a:spcPts val="1200"/>
              </a:spcAft>
              <a:defRPr sz="1800"/>
            </a:pPr>
            <a:r>
              <a:t>Translate analytical findings into actionable business recommendations.</a:t>
            </a:r>
          </a:p>
          <a:p>
            <a:pPr>
              <a:spcAft>
                <a:spcPts val="1200"/>
              </a:spcAft>
              <a:defRPr sz="1800"/>
            </a:pPr>
            <a:r>
              <a:t>Package results as notebooks, documentation, visualizations, and professional PDF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1 — Supermarket Sales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Dataset: 2,000 supermarket transactions across branches, products, customers, and payment methods.</a:t>
            </a:r>
          </a:p>
          <a:p>
            <a:pPr>
              <a:spcAft>
                <a:spcPts val="1200"/>
              </a:spcAft>
              <a:defRPr sz="1800"/>
            </a:pPr>
            <a:r>
              <a:t>Health &amp; Beauty generated the highest product-line sales.</a:t>
            </a:r>
          </a:p>
          <a:p>
            <a:pPr>
              <a:spcAft>
                <a:spcPts val="1200"/>
              </a:spcAft>
              <a:defRPr sz="1800"/>
            </a:pPr>
            <a:r>
              <a:t>Branch B recorded the highest total sales.</a:t>
            </a:r>
          </a:p>
          <a:p>
            <a:pPr>
              <a:spcAft>
                <a:spcPts val="1200"/>
              </a:spcAft>
              <a:defRPr sz="1800"/>
            </a:pPr>
            <a:r>
              <a:t>Thursday was the strongest sales day and 18:00 was the peak sales hour.</a:t>
            </a:r>
          </a:p>
          <a:p>
            <a:pPr>
              <a:spcAft>
                <a:spcPts val="1200"/>
              </a:spcAft>
              <a:defRPr sz="1800"/>
            </a:pPr>
            <a:r>
              <a:t>Delivered product, customer, branch, daily, weekday, hourly, and correlation visualizations.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2 — Student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Dataset: 2,000 student records covering attendance, study hours, test preparation, and subject scores.</a:t>
            </a:r>
          </a:p>
          <a:p>
            <a:pPr>
              <a:spcAft>
                <a:spcPts val="1200"/>
              </a:spcAft>
              <a:defRPr sz="1800"/>
            </a:pPr>
            <a:r>
              <a:t>Overall pass rate: 48.70%.</a:t>
            </a:r>
          </a:p>
          <a:p>
            <a:pPr>
              <a:spcAft>
                <a:spcPts val="1200"/>
              </a:spcAft>
              <a:defRPr sz="1800"/>
            </a:pPr>
            <a:r>
              <a:t>Students completing test preparation had a substantially higher pass rate.</a:t>
            </a:r>
          </a:p>
          <a:p>
            <a:pPr>
              <a:spcAft>
                <a:spcPts val="1200"/>
              </a:spcAft>
              <a:defRPr sz="1800"/>
            </a:pPr>
            <a:r>
              <a:t>Attendance and study hours both showed positive relationships with overall performance.</a:t>
            </a:r>
          </a:p>
          <a:p>
            <a:pPr>
              <a:spcAft>
                <a:spcPts val="1200"/>
              </a:spcAft>
              <a:defRPr sz="1800"/>
            </a:pPr>
            <a:r>
              <a:t>Delivered subject, pass/fail, attendance, study-hours, preparation, parental-education, and correlation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3 — Weather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Dataset: 2,000 daily weather observations with temperature, humidity, wind, rainfall, and conditions.</a:t>
            </a:r>
          </a:p>
          <a:p>
            <a:pPr>
              <a:spcAft>
                <a:spcPts val="1200"/>
              </a:spcAft>
              <a:defRPr sz="1800"/>
            </a:pPr>
            <a:r>
              <a:t>Clear conditions were the most frequent weather condition.</a:t>
            </a:r>
          </a:p>
          <a:p>
            <a:pPr>
              <a:spcAft>
                <a:spcPts val="1200"/>
              </a:spcAft>
              <a:defRPr sz="1800"/>
            </a:pPr>
            <a:r>
              <a:t>Monsoon recorded the highest seasonal rainfall.</a:t>
            </a:r>
          </a:p>
          <a:p>
            <a:pPr>
              <a:spcAft>
                <a:spcPts val="1200"/>
              </a:spcAft>
              <a:defRPr sz="1800"/>
            </a:pPr>
            <a:r>
              <a:t>Extreme-event analysis identified heat, cold, heavy-rain, and high-wind observations.</a:t>
            </a:r>
          </a:p>
          <a:p>
            <a:pPr>
              <a:spcAft>
                <a:spcPts val="1200"/>
              </a:spcAft>
              <a:defRPr sz="1800"/>
            </a:pPr>
            <a:r>
              <a:t>Delivered monthly, seasonal, extreme-event, condition-distribution, trend, and correlation visualizations.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4 — Healthcare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Dataset: 2,000 patient records covering departments, diagnoses, length of stay, costs, satisfaction, and readmission.</a:t>
            </a:r>
          </a:p>
          <a:p>
            <a:pPr>
              <a:spcAft>
                <a:spcPts val="1200"/>
              </a:spcAft>
              <a:defRPr sz="1800"/>
            </a:pPr>
            <a:r>
              <a:t>Overall readmission rate: 14.8%.</a:t>
            </a:r>
          </a:p>
          <a:p>
            <a:pPr>
              <a:spcAft>
                <a:spcPts val="1200"/>
              </a:spcAft>
              <a:defRPr sz="1800"/>
            </a:pPr>
            <a:r>
              <a:t>Cardiology had the highest department-level readmission rate.</a:t>
            </a:r>
          </a:p>
          <a:p>
            <a:pPr>
              <a:spcAft>
                <a:spcPts val="1200"/>
              </a:spcAft>
              <a:defRPr sz="1800"/>
            </a:pPr>
            <a:r>
              <a:t>Length of stay and cost-per-day showed a strong negative relationship.</a:t>
            </a:r>
          </a:p>
          <a:p>
            <a:pPr>
              <a:spcAft>
                <a:spcPts val="1200"/>
              </a:spcAft>
              <a:defRPr sz="1800"/>
            </a:pPr>
            <a:r>
              <a:t>Recommendations focused on readmission monitoring, discharge planning, cost review, and patient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5 — Finance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Dataset: 1,500 simulated business-day observations with OHLC prices and trading volume.</a:t>
            </a:r>
          </a:p>
          <a:p>
            <a:pPr>
              <a:spcAft>
                <a:spcPts val="1200"/>
              </a:spcAft>
              <a:defRPr sz="1800"/>
            </a:pPr>
            <a:r>
              <a:t>Starting close: approximately 101.04; ending close: approximately 686.77.</a:t>
            </a:r>
          </a:p>
          <a:p>
            <a:pPr>
              <a:spcAft>
                <a:spcPts val="1200"/>
              </a:spcAft>
              <a:defRPr sz="1800"/>
            </a:pPr>
            <a:r>
              <a:t>Simulated overall price return: approximately 579.68%.</a:t>
            </a:r>
          </a:p>
          <a:p>
            <a:pPr>
              <a:spcAft>
                <a:spcPts val="1200"/>
              </a:spcAft>
              <a:defRPr sz="1800"/>
            </a:pPr>
            <a:r>
              <a:t>Average daily return: approximately 0.16%; daily return volatility: approximately 1.98%.</a:t>
            </a:r>
          </a:p>
          <a:p>
            <a:pPr>
              <a:spcAft>
                <a:spcPts val="1200"/>
              </a:spcAft>
              <a:defRPr sz="1800"/>
            </a:pPr>
            <a:r>
              <a:t>20-day vs 50-day moving-average signal was bullish for approximately 61.53% of observations.</a:t>
            </a:r>
          </a:p>
          <a:p>
            <a:pPr>
              <a:spcAft>
                <a:spcPts val="1200"/>
              </a:spcAft>
              <a:defRPr sz="1800"/>
            </a:pPr>
            <a:r>
              <a:t>OHLC consistency and rolling-window validation checks were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6 — House Price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Dataset: 300 residential properties across Rural, Suburb, and City Center locations.</a:t>
            </a:r>
          </a:p>
          <a:p>
            <a:pPr>
              <a:spcAft>
                <a:spcPts val="1200"/>
              </a:spcAft>
              <a:defRPr sz="1800"/>
            </a:pPr>
            <a:r>
              <a:t>Average price: approximately ₹2.49 crore; maximum price: approximately ₹5.87 crore.</a:t>
            </a:r>
          </a:p>
          <a:p>
            <a:pPr>
              <a:spcAft>
                <a:spcPts val="1200"/>
              </a:spcAft>
              <a:defRPr sz="1800"/>
            </a:pPr>
            <a:r>
              <a:t>Area–Price correlation: 0.796, the strongest numerical relationship analyzed.</a:t>
            </a:r>
          </a:p>
          <a:p>
            <a:pPr>
              <a:spcAft>
                <a:spcPts val="1200"/>
              </a:spcAft>
              <a:defRPr sz="1800"/>
            </a:pPr>
            <a:r>
              <a:t>City Center average price: approximately ₹3.31 crore; Rural: approximately ₹1.65 crore.</a:t>
            </a:r>
          </a:p>
          <a:p>
            <a:pPr>
              <a:spcAft>
                <a:spcPts val="1200"/>
              </a:spcAft>
              <a:defRPr sz="1800"/>
            </a:pPr>
            <a:r>
              <a:t>Premium properties averaged approximately ₹4.07 crore.</a:t>
            </a:r>
          </a:p>
          <a:p>
            <a:pPr>
              <a:spcAft>
                <a:spcPts val="1200"/>
              </a:spcAft>
              <a:defRPr sz="1800"/>
            </a:pPr>
            <a:r>
              <a:t>Price-per-area analysis identified Rural properties among the strongest space-for-price value observations.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Technical Skills Demonstrated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Python, Pandas, NumPy, Matplotlib, and Jupyter Notebook.</a:t>
            </a:r>
          </a:p>
          <a:p>
            <a:pPr>
              <a:spcAft>
                <a:spcPts val="1200"/>
              </a:spcAft>
              <a:defRPr sz="1800"/>
            </a:pPr>
            <a:r>
              <a:t>Data cleaning: missing values, duplicates, data types, unique IDs, and domain-specific validation.</a:t>
            </a:r>
          </a:p>
          <a:p>
            <a:pPr>
              <a:spcAft>
                <a:spcPts val="1200"/>
              </a:spcAft>
              <a:defRPr sz="1800"/>
            </a:pPr>
            <a:r>
              <a:t>Statistical analysis: mean, median, standard deviation, correlation, grouped aggregation, and trends.</a:t>
            </a:r>
          </a:p>
          <a:p>
            <a:pPr>
              <a:spcAft>
                <a:spcPts val="1200"/>
              </a:spcAft>
              <a:defRPr sz="1800"/>
            </a:pPr>
            <a:r>
              <a:t>Feature engineering: time features, price segments, age groups, cost per day, moving averages, volatility, and price per area.</a:t>
            </a:r>
          </a:p>
          <a:p>
            <a:pPr>
              <a:spcAft>
                <a:spcPts val="1200"/>
              </a:spcAft>
              <a:defRPr sz="1800"/>
            </a:pPr>
            <a:r>
              <a:t>Business communication: executive summaries, insights, recommendations, and professional PDF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Portfolio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6 Jupyter notebooks with end-to-end analysis.</a:t>
            </a:r>
          </a:p>
          <a:p>
            <a:pPr>
              <a:spcAft>
                <a:spcPts val="1200"/>
              </a:spcAft>
              <a:defRPr sz="1800"/>
            </a:pPr>
            <a:r>
              <a:t>6 datasets stored in the data/ directory.</a:t>
            </a:r>
          </a:p>
          <a:p>
            <a:pPr>
              <a:spcAft>
                <a:spcPts val="1200"/>
              </a:spcAft>
              <a:defRPr sz="1800"/>
            </a:pPr>
            <a:r>
              <a:t>6 project READMEs in docs/.</a:t>
            </a:r>
          </a:p>
          <a:p>
            <a:pPr>
              <a:spcAft>
                <a:spcPts val="1200"/>
              </a:spcAft>
              <a:defRPr sz="1800"/>
            </a:pPr>
            <a:r>
              <a:t>6 professional PDF reports in reports/.</a:t>
            </a:r>
          </a:p>
          <a:p>
            <a:pPr>
              <a:spcAft>
                <a:spcPts val="1200"/>
              </a:spcAft>
              <a:defRPr sz="1800"/>
            </a:pPr>
            <a:r>
              <a:t>40+ visualization PNG files in visualizations/.</a:t>
            </a:r>
          </a:p>
          <a:p>
            <a:pPr>
              <a:spcAft>
                <a:spcPts val="1200"/>
              </a:spcAft>
              <a:defRPr sz="1800"/>
            </a:pPr>
            <a:r>
              <a:t>Main README.md, requirements.txt, and .gitignore.</a:t>
            </a:r>
          </a:p>
          <a:p>
            <a:pPr>
              <a:spcAft>
                <a:spcPts val="1200"/>
              </a:spcAft>
              <a:defRPr sz="1800"/>
            </a:pPr>
            <a:r>
              <a:t>GitHub repository with a clean main branch and organized project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 analysis is most valuable when statistical findings are connected to business decisions.</a:t>
            </a:r>
          </a:p>
          <a:p>
            <a:pPr>
              <a:spcAft>
                <a:spcPts val="1200"/>
              </a:spcAft>
              <a:defRPr sz="1800"/>
            </a:pPr>
            <a:r>
              <a:t>Across the projects, validation was treated as a core part of the analytical workflow.</a:t>
            </a:r>
          </a:p>
          <a:p>
            <a:pPr>
              <a:spcAft>
                <a:spcPts val="1200"/>
              </a:spcAft>
              <a:defRPr sz="1800"/>
            </a:pPr>
            <a:r>
              <a:t>The portfolio demonstrates the ability to move from raw data to insights, recommendations, and professional presentation.</a:t>
            </a:r>
          </a:p>
          <a:p>
            <a:pPr>
              <a:spcAft>
                <a:spcPts val="1200"/>
              </a:spcAft>
              <a:defRPr sz="1800"/>
            </a:pPr>
            <a:r>
              <a:t>Next steps: improve GitHub presentation, add project-level links/screenshots, and prepare a concise interview walkthrough.</a:t>
            </a:r>
          </a:p>
          <a:p>
            <a:pPr>
              <a:spcAft>
                <a:spcPts val="1200"/>
              </a:spcAft>
              <a:defRPr sz="1800"/>
            </a:pPr>
            <a:r>
              <a:t>Note: simulated datasets are clearly identified and should not be interpreted as real-world facts.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762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padala durga prasad reddy</cp:lastModifiedBy>
  <cp:revision>1</cp:revision>
  <dcterms:created xsi:type="dcterms:W3CDTF">2013-01-27T09:14:16Z</dcterms:created>
  <dcterms:modified xsi:type="dcterms:W3CDTF">2026-09-02T09:39:51Z</dcterms:modified>
  <cp:category/>
</cp:coreProperties>
</file>